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7"/>
  </p:notesMasterIdLst>
  <p:handoutMasterIdLst>
    <p:handoutMasterId r:id="rId18"/>
  </p:handoutMasterIdLst>
  <p:sldIdLst>
    <p:sldId id="338" r:id="rId5"/>
    <p:sldId id="327" r:id="rId6"/>
    <p:sldId id="315" r:id="rId7"/>
    <p:sldId id="329" r:id="rId8"/>
    <p:sldId id="302" r:id="rId9"/>
    <p:sldId id="339" r:id="rId10"/>
    <p:sldId id="340" r:id="rId11"/>
    <p:sldId id="341" r:id="rId12"/>
    <p:sldId id="344" r:id="rId13"/>
    <p:sldId id="342" r:id="rId14"/>
    <p:sldId id="343" r:id="rId15"/>
    <p:sldId id="304"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96" d="100"/>
          <a:sy n="96" d="100"/>
        </p:scale>
        <p:origin x="82" y="120"/>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10/21/2025</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10/21/2025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10/21/2025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10/21/2025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10/21/2025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10/21/2025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10/21/2025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10/21/2025</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10/21/2025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10/21/2025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10/21/2025</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sksarankumar2005/VOIS_AICTE_Oct2025_MajorProject_Sarankumar-S.git"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312871" y="4141999"/>
            <a:ext cx="3811790" cy="861497"/>
          </a:xfrm>
        </p:spPr>
        <p:txBody>
          <a:bodyPr>
            <a:normAutofit fontScale="85000" lnSpcReduction="10000"/>
          </a:bodyPr>
          <a:lstStyle/>
          <a:p>
            <a:pPr algn="r"/>
            <a:r>
              <a:rPr lang="en-US" b="0" dirty="0" err="1">
                <a:solidFill>
                  <a:schemeClr val="tx1"/>
                </a:solidFill>
              </a:rPr>
              <a:t>Sarankumar</a:t>
            </a:r>
            <a:r>
              <a:rPr lang="en-US" b="0" dirty="0">
                <a:solidFill>
                  <a:schemeClr val="tx1"/>
                </a:solidFill>
              </a:rPr>
              <a:t> S</a:t>
            </a:r>
          </a:p>
          <a:p>
            <a:pPr algn="r"/>
            <a:r>
              <a:rPr lang="en-IN" b="0" dirty="0">
                <a:solidFill>
                  <a:schemeClr val="tx1"/>
                </a:solidFill>
              </a:rPr>
              <a:t>APPLY_1754923554689a02221319e</a:t>
            </a: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5557520" y="2422277"/>
            <a:ext cx="4998720" cy="743448"/>
          </a:xfrm>
        </p:spPr>
        <p:txBody>
          <a:bodyPr>
            <a:normAutofit/>
          </a:bodyPr>
          <a:lstStyle/>
          <a:p>
            <a:r>
              <a:rPr lang="en-GB" sz="3200" dirty="0"/>
              <a:t>NETFLIX DATA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414700" y="1914255"/>
            <a:ext cx="6431280" cy="3607987"/>
          </a:xfrm>
        </p:spPr>
        <p:txBody>
          <a:bodyPr>
            <a:normAutofit fontScale="85000" lnSpcReduction="10000"/>
          </a:bodyPr>
          <a:lstStyle/>
          <a:p>
            <a:pPr fontAlgn="base">
              <a:buClr>
                <a:schemeClr val="tx1"/>
              </a:buClr>
              <a:buFont typeface="Wingdings" panose="05000000000000000000" pitchFamily="2" charset="2"/>
              <a:buChar char="Ø"/>
            </a:pPr>
            <a:r>
              <a:rPr lang="en-US" dirty="0"/>
              <a:t>Netflix has become one of the most prominent global streaming platforms, continuously expanding its library with a mix of original productions and licensed content. However, with growing competition from platforms like Amazon Prime, Disney+, and regional OTT providers, Netflix must strategically analyze its content catalog to identify strengths, gaps, and opportunities.  </a:t>
            </a:r>
          </a:p>
          <a:p>
            <a:pPr fontAlgn="base">
              <a:buClr>
                <a:schemeClr val="tx1"/>
              </a:buClr>
              <a:buFont typeface="Wingdings" panose="05000000000000000000" pitchFamily="2" charset="2"/>
              <a:buChar char="Ø"/>
            </a:pPr>
            <a:r>
              <a:rPr lang="en-US" dirty="0"/>
              <a:t>The specific problem to be addressed in this project is </a:t>
            </a:r>
            <a:r>
              <a:rPr lang="en-US" b="1" dirty="0"/>
              <a:t>'Content Trends Analysis for Strategic Recommendations</a:t>
            </a:r>
            <a:r>
              <a:rPr lang="en-US" dirty="0"/>
              <a:t>'. The aim is to uncover how Netflix’s content distribution (Movies vs. TV Shows, genres, and country contributions) has evolved over the years. This will enable the identification of key genres, audience preferences, and strategic insights into global content expansion. </a:t>
            </a:r>
          </a:p>
          <a:p>
            <a:pPr>
              <a:lnSpc>
                <a:spcPct val="150000"/>
              </a:lnSpc>
            </a:pP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4" name="TextBox 3">
            <a:extLst>
              <a:ext uri="{FF2B5EF4-FFF2-40B4-BE49-F238E27FC236}">
                <a16:creationId xmlns:a16="http://schemas.microsoft.com/office/drawing/2014/main" id="{54480D71-BB98-83CB-16F7-66C0D7E45883}"/>
              </a:ext>
            </a:extLst>
          </p:cNvPr>
          <p:cNvSpPr txBox="1"/>
          <p:nvPr/>
        </p:nvSpPr>
        <p:spPr>
          <a:xfrm>
            <a:off x="532673" y="2038176"/>
            <a:ext cx="9601200" cy="3693319"/>
          </a:xfrm>
          <a:prstGeom prst="rect">
            <a:avLst/>
          </a:prstGeom>
          <a:noFill/>
        </p:spPr>
        <p:txBody>
          <a:bodyPr wrap="square">
            <a:spAutoFit/>
          </a:bodyPr>
          <a:lstStyle/>
          <a:p>
            <a:pPr>
              <a:buFont typeface="+mj-lt"/>
              <a:buAutoNum type="arabicPeriod"/>
            </a:pPr>
            <a:r>
              <a:rPr lang="en-US" b="1" dirty="0"/>
              <a:t>Analyze</a:t>
            </a:r>
            <a:r>
              <a:rPr lang="en-US" dirty="0"/>
              <a:t> the distribution and growth of Movies and TV Shows on Netflix over the years.</a:t>
            </a:r>
          </a:p>
          <a:p>
            <a:pPr>
              <a:buFont typeface="+mj-lt"/>
              <a:buAutoNum type="arabicPeriod"/>
            </a:pPr>
            <a:r>
              <a:rPr lang="en-US" b="1" dirty="0"/>
              <a:t>Identify</a:t>
            </a:r>
            <a:r>
              <a:rPr lang="en-US" dirty="0"/>
              <a:t> the most frequent genres and observe changes in their popularity.</a:t>
            </a:r>
          </a:p>
          <a:p>
            <a:pPr>
              <a:buFont typeface="+mj-lt"/>
              <a:buAutoNum type="arabicPeriod"/>
            </a:pPr>
            <a:r>
              <a:rPr lang="en-US" b="1" dirty="0"/>
              <a:t>Compare</a:t>
            </a:r>
            <a:r>
              <a:rPr lang="en-US" dirty="0"/>
              <a:t> country-wise contributions to Netflix’s content base to assess global diversity.</a:t>
            </a:r>
          </a:p>
          <a:p>
            <a:pPr>
              <a:buFont typeface="+mj-lt"/>
              <a:buAutoNum type="arabicPeriod"/>
            </a:pPr>
            <a:r>
              <a:rPr lang="en-US" b="1" dirty="0"/>
              <a:t>Provide</a:t>
            </a:r>
            <a:r>
              <a:rPr lang="en-US" dirty="0"/>
              <a:t> strategic recommendations for future content acquisition and production.</a:t>
            </a:r>
          </a:p>
          <a:p>
            <a:pPr>
              <a:buNone/>
            </a:pPr>
            <a:endParaRPr lang="en-US" dirty="0"/>
          </a:p>
          <a:p>
            <a:pPr>
              <a:buNone/>
            </a:pPr>
            <a:r>
              <a:rPr lang="en-US" b="1" dirty="0"/>
              <a:t>Significance of the Study</a:t>
            </a:r>
          </a:p>
          <a:p>
            <a:pPr>
              <a:buNone/>
            </a:pPr>
            <a:r>
              <a:rPr lang="en-US" dirty="0"/>
              <a:t>This analysis is significant for understanding Netflix’s </a:t>
            </a:r>
            <a:r>
              <a:rPr lang="en-US" b="1" dirty="0"/>
              <a:t>content evolution and audience engagement patterns</a:t>
            </a:r>
            <a:r>
              <a:rPr lang="en-US" dirty="0"/>
              <a:t>. By identifying popular genres and underrepresented regions, the study offers actionable insights that can help Netflix make </a:t>
            </a:r>
            <a:r>
              <a:rPr lang="en-US" b="1" dirty="0"/>
              <a:t>data-driven business decisions</a:t>
            </a:r>
            <a:r>
              <a:rPr lang="en-US" dirty="0"/>
              <a:t>. Such findings are valuable for:</a:t>
            </a:r>
          </a:p>
          <a:p>
            <a:pPr marL="285750" indent="-285750">
              <a:buFont typeface="Wingdings" panose="05000000000000000000" pitchFamily="2" charset="2"/>
              <a:buChar char="Ø"/>
            </a:pPr>
            <a:r>
              <a:rPr lang="en-US" dirty="0"/>
              <a:t>Enhancing </a:t>
            </a:r>
            <a:r>
              <a:rPr lang="en-US" b="1" dirty="0"/>
              <a:t>content strategy</a:t>
            </a:r>
            <a:r>
              <a:rPr lang="en-US" dirty="0"/>
              <a:t> and balancing global vs. local productions.</a:t>
            </a:r>
          </a:p>
          <a:p>
            <a:pPr marL="285750" indent="-285750">
              <a:buFont typeface="Wingdings" panose="05000000000000000000" pitchFamily="2" charset="2"/>
              <a:buChar char="Ø"/>
            </a:pPr>
            <a:r>
              <a:rPr lang="en-US" dirty="0"/>
              <a:t>Recognizing </a:t>
            </a:r>
            <a:r>
              <a:rPr lang="en-US" b="1" dirty="0"/>
              <a:t>market trends</a:t>
            </a:r>
            <a:r>
              <a:rPr lang="en-US" dirty="0"/>
              <a:t> and regional viewer interests.</a:t>
            </a:r>
          </a:p>
          <a:p>
            <a:pPr marL="285750" indent="-285750">
              <a:buFont typeface="Wingdings" panose="05000000000000000000" pitchFamily="2" charset="2"/>
              <a:buChar char="Ø"/>
            </a:pPr>
            <a:r>
              <a:rPr lang="en-US" dirty="0"/>
              <a:t>Supporting </a:t>
            </a:r>
            <a:r>
              <a:rPr lang="en-US" b="1" dirty="0"/>
              <a:t>strategic investments</a:t>
            </a:r>
            <a:r>
              <a:rPr lang="en-US" dirty="0"/>
              <a:t> in specific content types and countries.</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3" name="Rectangle 1">
            <a:extLst>
              <a:ext uri="{FF2B5EF4-FFF2-40B4-BE49-F238E27FC236}">
                <a16:creationId xmlns:a16="http://schemas.microsoft.com/office/drawing/2014/main" id="{FA488652-DC56-EC26-5F31-ED7CB8D4D27A}"/>
              </a:ext>
            </a:extLst>
          </p:cNvPr>
          <p:cNvSpPr>
            <a:spLocks noGrp="1" noChangeArrowheads="1"/>
          </p:cNvSpPr>
          <p:nvPr>
            <p:ph type="body" sz="quarter" idx="12"/>
          </p:nvPr>
        </p:nvSpPr>
        <p:spPr bwMode="auto">
          <a:xfrm>
            <a:off x="543443" y="2213310"/>
            <a:ext cx="8558753"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Arial" panose="020B0604020202020204" pitchFamily="34" charset="0"/>
              </a:rPr>
              <a:t>Netflix Management and Strategy Team</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Arial" panose="020B0604020202020204" pitchFamily="34" charset="0"/>
              </a:rPr>
              <a:t>Netflix Content and Production Teams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Arial" panose="020B0604020202020204" pitchFamily="34" charset="0"/>
              </a:rPr>
              <a:t>Netflix Data Analytics and Insights Department</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Arial" panose="020B0604020202020204" pitchFamily="34" charset="0"/>
              </a:rPr>
              <a:t>Data Analysts and Data Scientists (in the OTT or media industry)</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Arial" panose="020B0604020202020204" pitchFamily="34" charset="0"/>
              </a:rPr>
              <a:t>Academic Researchers and Students (studying data analytics or media trends)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Arial" panose="020B0604020202020204" pitchFamily="34" charset="0"/>
              </a:rPr>
              <a:t>Business Analysts and Market Researchers</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1886" y="1246961"/>
            <a:ext cx="9027702" cy="5243448"/>
          </a:xfrm>
        </p:spPr>
        <p:txBody>
          <a:bodyPr/>
          <a:lstStyle/>
          <a:p>
            <a:pPr lvl="1">
              <a:lnSpc>
                <a:spcPct val="150000"/>
              </a:lnSpc>
              <a:buClr>
                <a:schemeClr val="tx1"/>
              </a:buClr>
              <a:buFont typeface="Wingdings" panose="05000000000000000000" pitchFamily="2" charset="2"/>
              <a:buChar char="Ø"/>
            </a:pPr>
            <a:r>
              <a:rPr lang="en-IN" dirty="0"/>
              <a:t>Python</a:t>
            </a:r>
          </a:p>
          <a:p>
            <a:pPr lvl="1">
              <a:lnSpc>
                <a:spcPct val="150000"/>
              </a:lnSpc>
              <a:buClr>
                <a:schemeClr val="tx1"/>
              </a:buClr>
              <a:buFont typeface="Wingdings" panose="05000000000000000000" pitchFamily="2" charset="2"/>
              <a:buChar char="Ø"/>
            </a:pPr>
            <a:r>
              <a:rPr lang="en-IN" dirty="0" err="1"/>
              <a:t>Jupyter</a:t>
            </a:r>
            <a:r>
              <a:rPr lang="en-IN" dirty="0"/>
              <a:t> Notebook</a:t>
            </a:r>
          </a:p>
          <a:p>
            <a:pPr lvl="1">
              <a:lnSpc>
                <a:spcPct val="150000"/>
              </a:lnSpc>
              <a:buClr>
                <a:schemeClr val="tx1"/>
              </a:buClr>
              <a:buFont typeface="Wingdings" panose="05000000000000000000" pitchFamily="2" charset="2"/>
              <a:buChar char="Ø"/>
            </a:pPr>
            <a:r>
              <a:rPr lang="en-IN" dirty="0"/>
              <a:t>Pandas</a:t>
            </a:r>
          </a:p>
          <a:p>
            <a:pPr lvl="1">
              <a:lnSpc>
                <a:spcPct val="150000"/>
              </a:lnSpc>
              <a:buClr>
                <a:schemeClr val="tx1"/>
              </a:buClr>
              <a:buFont typeface="Wingdings" panose="05000000000000000000" pitchFamily="2" charset="2"/>
              <a:buChar char="Ø"/>
            </a:pPr>
            <a:r>
              <a:rPr lang="en-IN" dirty="0"/>
              <a:t>Matplotlib</a:t>
            </a:r>
          </a:p>
          <a:p>
            <a:pPr lvl="1">
              <a:lnSpc>
                <a:spcPct val="150000"/>
              </a:lnSpc>
              <a:buClr>
                <a:schemeClr val="tx1"/>
              </a:buClr>
              <a:buFont typeface="Wingdings" panose="05000000000000000000" pitchFamily="2" charset="2"/>
              <a:buChar char="Ø"/>
            </a:pPr>
            <a:r>
              <a:rPr lang="en-IN" dirty="0" err="1"/>
              <a:t>Numpy</a:t>
            </a: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fade">
                                      <p:cBhvr>
                                        <p:cTn id="19" dur="1000"/>
                                        <p:tgtEl>
                                          <p:spTgt spid="7">
                                            <p:txEl>
                                              <p:pRg st="1" end="1"/>
                                            </p:txEl>
                                          </p:spTgt>
                                        </p:tgtEl>
                                      </p:cBhvr>
                                    </p:animEffect>
                                    <p:anim calcmode="lin" valueType="num">
                                      <p:cBhvr>
                                        <p:cTn id="20"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fade">
                                      <p:cBhvr>
                                        <p:cTn id="29" dur="1000"/>
                                        <p:tgtEl>
                                          <p:spTgt spid="7">
                                            <p:txEl>
                                              <p:pRg st="3" end="3"/>
                                            </p:txEl>
                                          </p:spTgt>
                                        </p:tgtEl>
                                      </p:cBhvr>
                                    </p:animEffect>
                                    <p:anim calcmode="lin" valueType="num">
                                      <p:cBhvr>
                                        <p:cTn id="3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7">
                                            <p:txEl>
                                              <p:pRg st="4" end="4"/>
                                            </p:txEl>
                                          </p:spTgt>
                                        </p:tgtEl>
                                        <p:attrNameLst>
                                          <p:attrName>style.visibility</p:attrName>
                                        </p:attrNameLst>
                                      </p:cBhvr>
                                      <p:to>
                                        <p:strVal val="visible"/>
                                      </p:to>
                                    </p:set>
                                    <p:animEffect transition="in" filter="fade">
                                      <p:cBhvr>
                                        <p:cTn id="34" dur="1000"/>
                                        <p:tgtEl>
                                          <p:spTgt spid="7">
                                            <p:txEl>
                                              <p:pRg st="4" end="4"/>
                                            </p:txEl>
                                          </p:spTgt>
                                        </p:tgtEl>
                                      </p:cBhvr>
                                    </p:animEffect>
                                    <p:anim calcmode="lin" valueType="num">
                                      <p:cBhvr>
                                        <p:cTn id="35"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RESULTS1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62734786-4DEA-9955-BFF8-FDF1EBB84300}"/>
              </a:ext>
            </a:extLst>
          </p:cNvPr>
          <p:cNvSpPr txBox="1"/>
          <p:nvPr/>
        </p:nvSpPr>
        <p:spPr>
          <a:xfrm>
            <a:off x="1037215" y="1751141"/>
            <a:ext cx="491666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Paste the screen shot of your code</a:t>
            </a:r>
          </a:p>
        </p:txBody>
      </p:sp>
      <p:pic>
        <p:nvPicPr>
          <p:cNvPr id="6" name="Picture 5">
            <a:extLst>
              <a:ext uri="{FF2B5EF4-FFF2-40B4-BE49-F238E27FC236}">
                <a16:creationId xmlns:a16="http://schemas.microsoft.com/office/drawing/2014/main" id="{E7125274-BAFA-4933-BF72-B95976F26ADC}"/>
              </a:ext>
            </a:extLst>
          </p:cNvPr>
          <p:cNvPicPr>
            <a:picLocks noChangeAspect="1"/>
          </p:cNvPicPr>
          <p:nvPr/>
        </p:nvPicPr>
        <p:blipFill>
          <a:blip r:embed="rId3"/>
          <a:stretch>
            <a:fillRect/>
          </a:stretch>
        </p:blipFill>
        <p:spPr>
          <a:xfrm>
            <a:off x="675957" y="1751141"/>
            <a:ext cx="9308413" cy="3599694"/>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61F40-61F5-A9E4-2028-61D27EB38D0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90F1862-D4F3-D9EB-176E-2E2938531BAC}"/>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723A3B93-82D2-A57B-4898-3D9B0C72DC7D}"/>
              </a:ext>
            </a:extLst>
          </p:cNvPr>
          <p:cNvSpPr>
            <a:spLocks noGrp="1"/>
          </p:cNvSpPr>
          <p:nvPr>
            <p:ph type="title"/>
          </p:nvPr>
        </p:nvSpPr>
        <p:spPr>
          <a:xfrm>
            <a:off x="675957" y="370589"/>
            <a:ext cx="2981643" cy="830997"/>
          </a:xfrm>
        </p:spPr>
        <p:txBody>
          <a:bodyPr>
            <a:normAutofit/>
          </a:bodyPr>
          <a:lstStyle/>
          <a:p>
            <a:r>
              <a:rPr lang="en-GB" dirty="0"/>
              <a:t>RESULTS2</a:t>
            </a:r>
            <a:endParaRPr lang="en-IN" dirty="0"/>
          </a:p>
        </p:txBody>
      </p:sp>
      <p:sp>
        <p:nvSpPr>
          <p:cNvPr id="7" name="Text Placeholder 30">
            <a:extLst>
              <a:ext uri="{FF2B5EF4-FFF2-40B4-BE49-F238E27FC236}">
                <a16:creationId xmlns:a16="http://schemas.microsoft.com/office/drawing/2014/main" id="{F4C0E530-3AAB-E420-2061-2352FB4AEFB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3F5036B-907B-9AB7-BC47-C7C142E40FA7}"/>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A36EB5C4-B334-C562-399B-4AC61818DAC5}"/>
              </a:ext>
            </a:extLst>
          </p:cNvPr>
          <p:cNvSpPr txBox="1"/>
          <p:nvPr/>
        </p:nvSpPr>
        <p:spPr>
          <a:xfrm>
            <a:off x="767807" y="1831964"/>
            <a:ext cx="645228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Add screen shot of graph</a:t>
            </a:r>
          </a:p>
        </p:txBody>
      </p:sp>
      <p:pic>
        <p:nvPicPr>
          <p:cNvPr id="6" name="Picture 5">
            <a:extLst>
              <a:ext uri="{FF2B5EF4-FFF2-40B4-BE49-F238E27FC236}">
                <a16:creationId xmlns:a16="http://schemas.microsoft.com/office/drawing/2014/main" id="{7E26330B-AF57-4AF2-A751-19DDC0F79DA9}"/>
              </a:ext>
            </a:extLst>
          </p:cNvPr>
          <p:cNvPicPr>
            <a:picLocks noChangeAspect="1"/>
          </p:cNvPicPr>
          <p:nvPr/>
        </p:nvPicPr>
        <p:blipFill>
          <a:blip r:embed="rId3"/>
          <a:stretch>
            <a:fillRect/>
          </a:stretch>
        </p:blipFill>
        <p:spPr>
          <a:xfrm>
            <a:off x="570712" y="1608410"/>
            <a:ext cx="6649378" cy="4673120"/>
          </a:xfrm>
          <a:prstGeom prst="rect">
            <a:avLst/>
          </a:prstGeom>
        </p:spPr>
      </p:pic>
    </p:spTree>
    <p:extLst>
      <p:ext uri="{BB962C8B-B14F-4D97-AF65-F5344CB8AC3E}">
        <p14:creationId xmlns:p14="http://schemas.microsoft.com/office/powerpoint/2010/main" val="390853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024A6-C6F7-0E13-B5FE-E6A5870DA15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76194CC-45AC-6391-C127-232D7FE17E83}"/>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2560D1A-A584-25F8-1F57-468796F22888}"/>
              </a:ext>
            </a:extLst>
          </p:cNvPr>
          <p:cNvSpPr>
            <a:spLocks noGrp="1"/>
          </p:cNvSpPr>
          <p:nvPr>
            <p:ph type="title"/>
          </p:nvPr>
        </p:nvSpPr>
        <p:spPr>
          <a:xfrm>
            <a:off x="675957" y="370589"/>
            <a:ext cx="2981643" cy="830997"/>
          </a:xfrm>
        </p:spPr>
        <p:txBody>
          <a:bodyPr>
            <a:normAutofit/>
          </a:bodyPr>
          <a:lstStyle/>
          <a:p>
            <a:r>
              <a:rPr lang="en-GB" dirty="0"/>
              <a:t>RESULTS3 </a:t>
            </a:r>
            <a:endParaRPr lang="en-IN" dirty="0"/>
          </a:p>
        </p:txBody>
      </p:sp>
      <p:sp>
        <p:nvSpPr>
          <p:cNvPr id="7" name="Text Placeholder 30">
            <a:extLst>
              <a:ext uri="{FF2B5EF4-FFF2-40B4-BE49-F238E27FC236}">
                <a16:creationId xmlns:a16="http://schemas.microsoft.com/office/drawing/2014/main" id="{BBD379B3-43F5-BB42-D7EF-5C1FA28E50D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0D8247-EFB8-6C04-BBBF-310CEEF88E4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B2023D69-07AE-2EBE-3CC7-8A1AD6C902BB}"/>
              </a:ext>
            </a:extLst>
          </p:cNvPr>
          <p:cNvSpPr txBox="1"/>
          <p:nvPr/>
        </p:nvSpPr>
        <p:spPr>
          <a:xfrm>
            <a:off x="1297214" y="1941286"/>
            <a:ext cx="60960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Paste the screen shot of your code​</a:t>
            </a:r>
          </a:p>
        </p:txBody>
      </p:sp>
      <p:pic>
        <p:nvPicPr>
          <p:cNvPr id="6" name="Picture 5">
            <a:extLst>
              <a:ext uri="{FF2B5EF4-FFF2-40B4-BE49-F238E27FC236}">
                <a16:creationId xmlns:a16="http://schemas.microsoft.com/office/drawing/2014/main" id="{C491319C-4E7D-407D-BCB6-F8DACE691386}"/>
              </a:ext>
            </a:extLst>
          </p:cNvPr>
          <p:cNvPicPr>
            <a:picLocks noChangeAspect="1"/>
          </p:cNvPicPr>
          <p:nvPr/>
        </p:nvPicPr>
        <p:blipFill>
          <a:blip r:embed="rId3"/>
          <a:stretch>
            <a:fillRect/>
          </a:stretch>
        </p:blipFill>
        <p:spPr>
          <a:xfrm>
            <a:off x="877205" y="1397577"/>
            <a:ext cx="6516009" cy="4334480"/>
          </a:xfrm>
          <a:prstGeom prst="rect">
            <a:avLst/>
          </a:prstGeom>
        </p:spPr>
      </p:pic>
    </p:spTree>
    <p:extLst>
      <p:ext uri="{BB962C8B-B14F-4D97-AF65-F5344CB8AC3E}">
        <p14:creationId xmlns:p14="http://schemas.microsoft.com/office/powerpoint/2010/main" val="349846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302F3-5B15-F4B3-4FC0-05D49317B44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5314807-9A27-116F-CC98-E5EEF28F080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BA0845DA-C188-DB03-7162-C74DB64A3678}"/>
              </a:ext>
            </a:extLst>
          </p:cNvPr>
          <p:cNvSpPr>
            <a:spLocks noGrp="1"/>
          </p:cNvSpPr>
          <p:nvPr>
            <p:ph type="title"/>
          </p:nvPr>
        </p:nvSpPr>
        <p:spPr>
          <a:xfrm>
            <a:off x="675957" y="370589"/>
            <a:ext cx="6115368" cy="878622"/>
          </a:xfrm>
        </p:spPr>
        <p:txBody>
          <a:bodyPr>
            <a:normAutofit/>
          </a:bodyPr>
          <a:lstStyle/>
          <a:p>
            <a:r>
              <a:rPr lang="en-GB" dirty="0"/>
              <a:t>GitHub repository </a:t>
            </a:r>
          </a:p>
        </p:txBody>
      </p:sp>
      <p:sp>
        <p:nvSpPr>
          <p:cNvPr id="7" name="Text Placeholder 30">
            <a:extLst>
              <a:ext uri="{FF2B5EF4-FFF2-40B4-BE49-F238E27FC236}">
                <a16:creationId xmlns:a16="http://schemas.microsoft.com/office/drawing/2014/main" id="{9B11EDF8-3FD7-C9FE-2AA8-09208B3BEFC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8935B953-0B74-DF35-9464-45E8CB01D89D}"/>
              </a:ext>
            </a:extLst>
          </p:cNvPr>
          <p:cNvSpPr>
            <a:spLocks noGrp="1"/>
          </p:cNvSpPr>
          <p:nvPr>
            <p:ph type="body" sz="quarter" idx="12"/>
          </p:nvPr>
        </p:nvSpPr>
        <p:spPr>
          <a:xfrm>
            <a:off x="807164" y="1406106"/>
            <a:ext cx="5984161" cy="939529"/>
          </a:xfrm>
        </p:spPr>
        <p:txBody>
          <a:bodyPr vert="horz" lIns="91440" tIns="45720" rIns="91440" bIns="45720" rtlCol="0" anchor="t">
            <a:normAutofit/>
          </a:bodyPr>
          <a:lstStyle/>
          <a:p>
            <a:pPr marL="0" indent="0">
              <a:buNone/>
            </a:pPr>
            <a:r>
              <a:rPr lang="en-US" dirty="0"/>
              <a:t>URL:  </a:t>
            </a:r>
            <a:r>
              <a:rPr lang="en-US" dirty="0">
                <a:hlinkClick r:id="rId3"/>
              </a:rPr>
              <a:t>https://github.com/sksarankumar2005/VOIS_AICTE_Oct2025_MajorProject_Sarankumar-S.git</a:t>
            </a:r>
            <a:r>
              <a:rPr lang="en-US" dirty="0"/>
              <a:t> </a:t>
            </a:r>
          </a:p>
        </p:txBody>
      </p:sp>
    </p:spTree>
    <p:extLst>
      <p:ext uri="{BB962C8B-B14F-4D97-AF65-F5344CB8AC3E}">
        <p14:creationId xmlns:p14="http://schemas.microsoft.com/office/powerpoint/2010/main" val="1596923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xEl>
                                              <p:pRg st="0" end="0"/>
                                            </p:txEl>
                                          </p:spTgt>
                                        </p:tgtEl>
                                        <p:attrNameLst>
                                          <p:attrName>style.visibility</p:attrName>
                                        </p:attrNameLst>
                                      </p:cBhvr>
                                      <p:to>
                                        <p:strVal val="visible"/>
                                      </p:to>
                                    </p:set>
                                    <p:animEffect transition="in" filter="fade">
                                      <p:cBhvr>
                                        <p:cTn id="21" dur="1000"/>
                                        <p:tgtEl>
                                          <p:spTgt spid="10">
                                            <p:txEl>
                                              <p:pRg st="0" end="0"/>
                                            </p:txEl>
                                          </p:spTgt>
                                        </p:tgtEl>
                                      </p:cBhvr>
                                    </p:animEffect>
                                    <p:anim calcmode="lin" valueType="num">
                                      <p:cBhvr>
                                        <p:cTn id="22"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3FACE-D55E-9B4A-7A75-15654F5D4FD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761536A-9E87-8208-553B-AFA23F55C6EA}"/>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C5390BF9-A1B3-D0A5-6FE6-4C64A8B75AA9}"/>
              </a:ext>
            </a:extLst>
          </p:cNvPr>
          <p:cNvSpPr>
            <a:spLocks noGrp="1"/>
          </p:cNvSpPr>
          <p:nvPr>
            <p:ph type="title"/>
          </p:nvPr>
        </p:nvSpPr>
        <p:spPr>
          <a:xfrm>
            <a:off x="153443" y="370590"/>
            <a:ext cx="10892066" cy="904781"/>
          </a:xfrm>
        </p:spPr>
        <p:txBody>
          <a:bodyPr>
            <a:noAutofit/>
          </a:bodyPr>
          <a:lstStyle/>
          <a:p>
            <a:r>
              <a:rPr lang="en-IN" sz="3600" dirty="0"/>
              <a:t>Getting started with Basics of Python </a:t>
            </a:r>
            <a:r>
              <a:rPr lang="en-GB" sz="3600" dirty="0"/>
              <a:t>Certificate  </a:t>
            </a:r>
            <a:endParaRPr lang="en-IN" sz="3600" dirty="0"/>
          </a:p>
        </p:txBody>
      </p:sp>
      <p:sp>
        <p:nvSpPr>
          <p:cNvPr id="7" name="Text Placeholder 30">
            <a:extLst>
              <a:ext uri="{FF2B5EF4-FFF2-40B4-BE49-F238E27FC236}">
                <a16:creationId xmlns:a16="http://schemas.microsoft.com/office/drawing/2014/main" id="{C0B10ED4-748B-FD2D-3185-4AB559AC71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1BF57D1-2242-C3F4-D177-EE064D5454A4}"/>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460BF899-F7CC-395F-D4B6-232771689F29}"/>
              </a:ext>
            </a:extLst>
          </p:cNvPr>
          <p:cNvSpPr>
            <a:spLocks noGrp="1"/>
          </p:cNvSpPr>
          <p:nvPr>
            <p:ph type="body" sz="quarter" idx="12"/>
          </p:nvPr>
        </p:nvSpPr>
        <p:spPr>
          <a:xfrm>
            <a:off x="3192200" y="4262056"/>
            <a:ext cx="4275138" cy="477520"/>
          </a:xfrm>
        </p:spPr>
        <p:txBody>
          <a:bodyPr/>
          <a:lstStyle/>
          <a:p>
            <a:pPr marL="0" indent="0">
              <a:buNone/>
            </a:pPr>
            <a:endParaRPr lang="en-IN" dirty="0"/>
          </a:p>
        </p:txBody>
      </p:sp>
      <p:pic>
        <p:nvPicPr>
          <p:cNvPr id="9" name="Picture 8">
            <a:extLst>
              <a:ext uri="{FF2B5EF4-FFF2-40B4-BE49-F238E27FC236}">
                <a16:creationId xmlns:a16="http://schemas.microsoft.com/office/drawing/2014/main" id="{5A07FCF4-E5F7-478C-B78D-B33EF6CC08F3}"/>
              </a:ext>
            </a:extLst>
          </p:cNvPr>
          <p:cNvPicPr>
            <a:picLocks noChangeAspect="1"/>
          </p:cNvPicPr>
          <p:nvPr/>
        </p:nvPicPr>
        <p:blipFill>
          <a:blip r:embed="rId3"/>
          <a:srcRect/>
          <a:stretch/>
        </p:blipFill>
        <p:spPr>
          <a:xfrm>
            <a:off x="1991176" y="1608410"/>
            <a:ext cx="6513334" cy="4623864"/>
          </a:xfrm>
          <a:prstGeom prst="rect">
            <a:avLst/>
          </a:prstGeom>
        </p:spPr>
      </p:pic>
    </p:spTree>
    <p:extLst>
      <p:ext uri="{BB962C8B-B14F-4D97-AF65-F5344CB8AC3E}">
        <p14:creationId xmlns:p14="http://schemas.microsoft.com/office/powerpoint/2010/main" val="2710602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CD52E-39EF-82B8-E116-6B0D9B50E1D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0214EFD-3FAC-BE9B-CFBB-2D1FCCED012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5359B88B-4EF4-AA7A-A15C-4B2147671C19}"/>
              </a:ext>
            </a:extLst>
          </p:cNvPr>
          <p:cNvSpPr>
            <a:spLocks noGrp="1"/>
          </p:cNvSpPr>
          <p:nvPr>
            <p:ph type="title"/>
          </p:nvPr>
        </p:nvSpPr>
        <p:spPr>
          <a:xfrm>
            <a:off x="675957" y="370589"/>
            <a:ext cx="10892066" cy="904781"/>
          </a:xfrm>
        </p:spPr>
        <p:txBody>
          <a:bodyPr>
            <a:noAutofit/>
          </a:bodyPr>
          <a:lstStyle/>
          <a:p>
            <a:r>
              <a:rPr lang="en-IN" sz="3600" dirty="0"/>
              <a:t>Data Visualization </a:t>
            </a:r>
            <a:r>
              <a:rPr lang="en-GB" sz="3600" dirty="0"/>
              <a:t>Certificate  </a:t>
            </a:r>
            <a:endParaRPr lang="en-IN" sz="3600" dirty="0"/>
          </a:p>
        </p:txBody>
      </p:sp>
      <p:sp>
        <p:nvSpPr>
          <p:cNvPr id="7" name="Text Placeholder 30">
            <a:extLst>
              <a:ext uri="{FF2B5EF4-FFF2-40B4-BE49-F238E27FC236}">
                <a16:creationId xmlns:a16="http://schemas.microsoft.com/office/drawing/2014/main" id="{C23E8C61-31F1-4380-CEFB-D75448F856D7}"/>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F0577D1-D5B1-726B-4FAB-B353BDE31B12}"/>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D48169FB-B4CE-0F31-B897-737AB3A70EC0}"/>
              </a:ext>
            </a:extLst>
          </p:cNvPr>
          <p:cNvSpPr>
            <a:spLocks noGrp="1"/>
          </p:cNvSpPr>
          <p:nvPr>
            <p:ph type="body" sz="quarter" idx="12"/>
          </p:nvPr>
        </p:nvSpPr>
        <p:spPr>
          <a:xfrm>
            <a:off x="2208125" y="3965442"/>
            <a:ext cx="4275138" cy="477520"/>
          </a:xfrm>
        </p:spPr>
        <p:txBody>
          <a:bodyPr/>
          <a:lstStyle/>
          <a:p>
            <a:pPr marL="0" indent="0">
              <a:buNone/>
            </a:pPr>
            <a:r>
              <a:rPr lang="en-US" dirty="0"/>
              <a:t>[Paste your Certificate Here]</a:t>
            </a:r>
            <a:endParaRPr lang="en-IN" dirty="0"/>
          </a:p>
        </p:txBody>
      </p:sp>
      <p:pic>
        <p:nvPicPr>
          <p:cNvPr id="3" name="Picture 2">
            <a:extLst>
              <a:ext uri="{FF2B5EF4-FFF2-40B4-BE49-F238E27FC236}">
                <a16:creationId xmlns:a16="http://schemas.microsoft.com/office/drawing/2014/main" id="{C66612B7-B2FA-4EDE-8A06-339495CEAD49}"/>
              </a:ext>
            </a:extLst>
          </p:cNvPr>
          <p:cNvPicPr>
            <a:picLocks noChangeAspect="1"/>
          </p:cNvPicPr>
          <p:nvPr/>
        </p:nvPicPr>
        <p:blipFill>
          <a:blip r:embed="rId3"/>
          <a:srcRect/>
          <a:stretch/>
        </p:blipFill>
        <p:spPr>
          <a:xfrm>
            <a:off x="1659316" y="1547150"/>
            <a:ext cx="6868143" cy="4836582"/>
          </a:xfrm>
          <a:prstGeom prst="rect">
            <a:avLst/>
          </a:prstGeom>
        </p:spPr>
      </p:pic>
    </p:spTree>
    <p:extLst>
      <p:ext uri="{BB962C8B-B14F-4D97-AF65-F5344CB8AC3E}">
        <p14:creationId xmlns:p14="http://schemas.microsoft.com/office/powerpoint/2010/main" val="566684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629</TotalTime>
  <Words>391</Words>
  <Application>Microsoft Office PowerPoint</Application>
  <PresentationFormat>Widescreen</PresentationFormat>
  <Paragraphs>45</Paragraphs>
  <Slides>12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Trebuchet MS</vt:lpstr>
      <vt:lpstr>Wingdings</vt:lpstr>
      <vt:lpstr>Wingdings 3</vt:lpstr>
      <vt:lpstr>Facet</vt:lpstr>
      <vt:lpstr>NETFLIX DATA ANALYSIS</vt:lpstr>
      <vt:lpstr>PROBLEM  STATEMENT</vt:lpstr>
      <vt:lpstr>Project Description  </vt:lpstr>
      <vt:lpstr>WHO ARE THE END USERS?</vt:lpstr>
      <vt:lpstr>Technology Used</vt:lpstr>
      <vt:lpstr>RESULTS1 </vt:lpstr>
      <vt:lpstr>RESULTS2</vt:lpstr>
      <vt:lpstr>RESULTS3 </vt:lpstr>
      <vt:lpstr>GitHub repository </vt:lpstr>
      <vt:lpstr>Getting started with Basics of Python Certificate  </vt:lpstr>
      <vt:lpstr>Data Visualization Certificate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SARANKUMAR S</cp:lastModifiedBy>
  <cp:revision>120</cp:revision>
  <dcterms:created xsi:type="dcterms:W3CDTF">2021-07-11T13:13:15Z</dcterms:created>
  <dcterms:modified xsi:type="dcterms:W3CDTF">2025-10-21T16:00:07Z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